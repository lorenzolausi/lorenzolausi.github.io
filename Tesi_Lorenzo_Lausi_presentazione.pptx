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548cf20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548cf2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569eadc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3569ead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6907499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6907499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3965ec9b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3965ec9b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965ec9b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3965ec9b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3965ec9b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3965ec9b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42f48c564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42f48c564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4b738e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44b738e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4b738ec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44b738ec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44b738ec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44b738ec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44b738ec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44b738ec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44b738ec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44b738ec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44b738ec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44b738ec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4b738ec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44b738ec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gif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gif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34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Relationship Id="rId4" Type="http://schemas.openxmlformats.org/officeDocument/2006/relationships/image" Target="../media/image36.png"/><Relationship Id="rId5" Type="http://schemas.openxmlformats.org/officeDocument/2006/relationships/image" Target="../media/image40.gif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gif"/><Relationship Id="rId4" Type="http://schemas.openxmlformats.org/officeDocument/2006/relationships/hyperlink" Target="https://it.wikipedia.org/wiki/Grace_Murray_Hopper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8.png"/><Relationship Id="rId8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pdf/2402.1849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pdf/2310.17467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0.jpg"/><Relationship Id="rId9" Type="http://schemas.openxmlformats.org/officeDocument/2006/relationships/image" Target="../media/image38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44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hyperlink" Target="https://arxiv.org/pdf/2401.15604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69950"/>
            <a:ext cx="8520600" cy="26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ANALISI DELL’APPRENDIMENTO GENERATIVO DEI DIFFUSION MODELS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138" y="3046150"/>
            <a:ext cx="4215713" cy="17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ode_Generated_Imag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350" y="0"/>
            <a:ext cx="4647650" cy="35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593250" y="336725"/>
            <a:ext cx="35562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PROCESS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9045" y="3100950"/>
            <a:ext cx="1505250" cy="4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79275" y="3038300"/>
            <a:ext cx="26529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consideriamo un Processo di Ornstein-</a:t>
            </a:r>
            <a:r>
              <a:rPr lang="it" sz="1800">
                <a:solidFill>
                  <a:schemeClr val="dk1"/>
                </a:solidFill>
              </a:rPr>
              <a:t>Uhlenbeck</a:t>
            </a:r>
            <a:r>
              <a:rPr lang="it" sz="1800">
                <a:solidFill>
                  <a:schemeClr val="dk1"/>
                </a:solidFill>
              </a:rPr>
              <a:t> della forma Variance-Preserving,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dove la distribuzione marginale associata è: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948" y="3565536"/>
            <a:ext cx="7096854" cy="12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71575" y="2279825"/>
            <a:ext cx="2913000" cy="20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</a:rPr>
              <a:t>Questa proposizione ci permette di definire in modo esatto la distribuzione rumorosa, senza dover iniettare rumore a ogni step del processo </a:t>
            </a:r>
            <a:r>
              <a:rPr lang="it" sz="2000">
                <a:solidFill>
                  <a:schemeClr val="dk1"/>
                </a:solidFill>
              </a:rPr>
              <a:t>forward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3598" y="3750523"/>
            <a:ext cx="6326751" cy="9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347" y="1975738"/>
            <a:ext cx="4889094" cy="7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37404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BACKWARD PROCESS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14063" y="2662525"/>
            <a:ext cx="4128000" cy="1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Per un processo della forma forward introdotta è associato per il trm Anderson 1982 una SDE inversa della forma seguente.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p15" title="Code_Generated_Imag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125" y="0"/>
            <a:ext cx="4658875" cy="362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29250"/>
            <a:ext cx="4332724" cy="32973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414075" y="2013213"/>
            <a:ext cx="3890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 particolare in questa formulazione notiamo la presenza della funzione: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250" y="3378600"/>
            <a:ext cx="3511301" cy="11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5236850" y="3694713"/>
            <a:ext cx="381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Ossia lo </a:t>
            </a:r>
            <a:r>
              <a:rPr b="1" lang="it" sz="1800">
                <a:solidFill>
                  <a:schemeClr val="dk1"/>
                </a:solidFill>
              </a:rPr>
              <a:t>Score</a:t>
            </a:r>
            <a:r>
              <a:rPr lang="it" sz="1800">
                <a:solidFill>
                  <a:schemeClr val="dk1"/>
                </a:solidFill>
              </a:rPr>
              <a:t> associato alla distribuzione reale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4063" y="2017350"/>
            <a:ext cx="433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Tuttavia noi abbiamo unicamente a disposizione la distribuzione campionaria ottenuta a partire dal </a:t>
            </a:r>
            <a:r>
              <a:rPr i="1" lang="it" sz="1600">
                <a:solidFill>
                  <a:schemeClr val="dk1"/>
                </a:solidFill>
              </a:rPr>
              <a:t>Training Set</a:t>
            </a:r>
            <a:r>
              <a:rPr lang="it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31625" y="4248950"/>
            <a:ext cx="6182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Ossia una GMM ottenuta convolvendo rumore e applicando una contrazione lineare alla distribuzione iniziale, ossia la somma di delte di Dirac centrate nei dati, definita come: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3351" y="3963368"/>
            <a:ext cx="2483150" cy="11639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458412" y="2029240"/>
            <a:ext cx="33873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Stimare lo </a:t>
            </a:r>
            <a:r>
              <a:rPr b="1" lang="it" sz="1800">
                <a:solidFill>
                  <a:schemeClr val="dk1"/>
                </a:solidFill>
              </a:rPr>
              <a:t>score</a:t>
            </a:r>
            <a:r>
              <a:rPr lang="it" sz="1800">
                <a:solidFill>
                  <a:schemeClr val="dk1"/>
                </a:solidFill>
              </a:rPr>
              <a:t> di questa, equivalente al rapporto tra il gradiente della distribuzione e la distribuzione stessa, avrebbe un costo di O(N), moltiplicato per T step, e per tutto il </a:t>
            </a:r>
            <a:r>
              <a:rPr i="1" lang="it" sz="1800">
                <a:solidFill>
                  <a:schemeClr val="dk1"/>
                </a:solidFill>
              </a:rPr>
              <a:t>Training Set </a:t>
            </a:r>
            <a:r>
              <a:rPr lang="it" sz="1800">
                <a:solidFill>
                  <a:schemeClr val="dk1"/>
                </a:solidFill>
              </a:rPr>
              <a:t>richiederebbe</a:t>
            </a:r>
            <a:r>
              <a:rPr b="1" lang="it" sz="1800">
                <a:solidFill>
                  <a:schemeClr val="dk1"/>
                </a:solidFill>
              </a:rPr>
              <a:t> O(N^2 x T)</a:t>
            </a:r>
            <a:r>
              <a:rPr lang="it" sz="1800">
                <a:solidFill>
                  <a:schemeClr val="dk1"/>
                </a:solidFill>
              </a:rPr>
              <a:t>, </a:t>
            </a:r>
            <a:r>
              <a:rPr lang="it" sz="1800">
                <a:solidFill>
                  <a:schemeClr val="dk1"/>
                </a:solidFill>
              </a:rPr>
              <a:t>motivo per cui lo stimiamo tramite una rete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225" y="4028325"/>
            <a:ext cx="1158624" cy="2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249" y="3171832"/>
            <a:ext cx="4332725" cy="74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253375"/>
            <a:ext cx="20727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02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</a:t>
            </a:r>
            <a:endParaRPr sz="302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105900" y="804600"/>
            <a:ext cx="34635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it" sz="1625">
                <a:solidFill>
                  <a:schemeClr val="dk1"/>
                </a:solidFill>
              </a:rPr>
              <a:t>Definendo la loss come:</a:t>
            </a:r>
            <a:endParaRPr sz="1625">
              <a:solidFill>
                <a:schemeClr val="dk1"/>
              </a:solidFill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308" l="0" r="0" t="308"/>
          <a:stretch/>
        </p:blipFill>
        <p:spPr>
          <a:xfrm>
            <a:off x="223425" y="2086187"/>
            <a:ext cx="2072700" cy="32992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05900" y="1542075"/>
            <a:ext cx="45336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non dovremmo calcolare lo score della </a:t>
            </a:r>
            <a:r>
              <a:rPr lang="it" sz="1600">
                <a:solidFill>
                  <a:schemeClr val="dk1"/>
                </a:solidFill>
              </a:rPr>
              <a:t>distribuzione</a:t>
            </a:r>
            <a:r>
              <a:rPr lang="it" sz="1600">
                <a:solidFill>
                  <a:schemeClr val="dk1"/>
                </a:solidFill>
              </a:rPr>
              <a:t> ma è equivalente a:                                        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                    </a:t>
            </a:r>
            <a:r>
              <a:rPr lang="it" sz="1600">
                <a:solidFill>
                  <a:schemeClr val="dk1"/>
                </a:solidFill>
              </a:rPr>
              <a:t> </a:t>
            </a:r>
            <a:r>
              <a:rPr lang="it" sz="1600">
                <a:solidFill>
                  <a:schemeClr val="dk1"/>
                </a:solidFill>
              </a:rPr>
              <a:t>                 che  resta comunque inaccessibile per la traccia dello jacobiano. Poiché conosciamo il dato iniziale ciò è equivalente a minimizzare: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700" y="2873700"/>
            <a:ext cx="3291550" cy="4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223425" y="3380050"/>
            <a:ext cx="29277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integrando su tutti gli step: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5" name="Google Shape;95;p16" title="Code_Generated_Image (3).gif"/>
          <p:cNvPicPr preferRelativeResize="0"/>
          <p:nvPr/>
        </p:nvPicPr>
        <p:blipFill rotWithShape="1">
          <a:blip r:embed="rId5">
            <a:alphaModFix/>
          </a:blip>
          <a:srcRect b="6183" l="14938" r="12440" t="0"/>
          <a:stretch/>
        </p:blipFill>
        <p:spPr>
          <a:xfrm>
            <a:off x="4639450" y="0"/>
            <a:ext cx="4504551" cy="48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400" y="1120074"/>
            <a:ext cx="3009750" cy="5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3425" y="3800150"/>
            <a:ext cx="4074540" cy="13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 title="Code_Generated_Image (2).gif"/>
          <p:cNvPicPr preferRelativeResize="0"/>
          <p:nvPr/>
        </p:nvPicPr>
        <p:blipFill rotWithShape="1">
          <a:blip r:embed="rId3">
            <a:alphaModFix/>
          </a:blip>
          <a:srcRect b="0" l="18006" r="16613" t="0"/>
          <a:stretch/>
        </p:blipFill>
        <p:spPr>
          <a:xfrm>
            <a:off x="5635125" y="0"/>
            <a:ext cx="35088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4625" y="975025"/>
            <a:ext cx="5250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Nella definizione precedente abbiamo sostituito lo Score condizionato con:                                             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ottenendo:                                        </a:t>
            </a:r>
            <a:endParaRPr sz="1600"/>
          </a:p>
        </p:txBody>
      </p:sp>
      <p:sp>
        <p:nvSpPr>
          <p:cNvPr id="104" name="Google Shape;104;p17"/>
          <p:cNvSpPr txBox="1"/>
          <p:nvPr/>
        </p:nvSpPr>
        <p:spPr>
          <a:xfrm>
            <a:off x="176150" y="95925"/>
            <a:ext cx="57459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TWEEDIE FORMULA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76150" y="2270200"/>
            <a:ext cx="5359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dove il predittore ottimale per la loss MSE, e quindi per il il denoiser è:                       . Questo ci permette di ottenere l’equivalenza:                            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76150" y="3865400"/>
            <a:ext cx="4970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Dunque in termini di ottimalità Score Matching e Denoising coincidono. </a:t>
            </a:r>
            <a:r>
              <a:rPr lang="it" sz="1600">
                <a:solidFill>
                  <a:schemeClr val="dk1"/>
                </a:solidFill>
              </a:rPr>
              <a:t>Infatti possiamo esprimere equivalentemente la loss come: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885850" y="2731250"/>
            <a:ext cx="2158200" cy="1134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7216800" y="2731250"/>
            <a:ext cx="17028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Ammiraglio Grace Hooper </a:t>
            </a:r>
            <a:r>
              <a:rPr lang="it" sz="900" u="sng">
                <a:solidFill>
                  <a:schemeClr val="hlink"/>
                </a:solidFill>
                <a:hlinkClick r:id="rId4"/>
              </a:rPr>
              <a:t>https://it.wikipedia.org/wiki/Grace_Murray_Hopper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5">
            <a:alphaModFix/>
          </a:blip>
          <a:srcRect b="0" l="0" r="17451" t="0"/>
          <a:stretch/>
        </p:blipFill>
        <p:spPr>
          <a:xfrm>
            <a:off x="2033025" y="1288482"/>
            <a:ext cx="2245175" cy="38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2400" y="1603822"/>
            <a:ext cx="1614021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0675" y="2618175"/>
            <a:ext cx="1237465" cy="2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2000" y="3236588"/>
            <a:ext cx="2954361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82325" y="4487300"/>
            <a:ext cx="3043650" cy="4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206900" y="240200"/>
            <a:ext cx="5121300" cy="21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DINAMICA DI APPRENDIMENTO DEI  MODELLI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57450" y="2006075"/>
            <a:ext cx="388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06900" y="2148075"/>
            <a:ext cx="4428000" cy="26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Analizzeremo in che regimi la dinamica Backward ci permette di ottenere una buona qualità nella generazione di immagini. In particolare le assunzioni principali che faremo sono: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it" sz="1800">
                <a:solidFill>
                  <a:schemeClr val="dk1"/>
                </a:solidFill>
              </a:rPr>
              <a:t>Exact Empirical Score Hypothesis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it" sz="1800">
                <a:solidFill>
                  <a:schemeClr val="dk1"/>
                </a:solidFill>
              </a:rPr>
              <a:t>Limite Termodinamico</a:t>
            </a:r>
            <a:r>
              <a:rPr lang="it" sz="1800">
                <a:solidFill>
                  <a:schemeClr val="dk1"/>
                </a:solidFill>
              </a:rPr>
              <a:t>: N (Train sample) e d(dimensione) alta ma con rapporto costante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1" name="Google Shape;121;p18" title="Code_Generated_Image (4).gif"/>
          <p:cNvPicPr preferRelativeResize="0"/>
          <p:nvPr/>
        </p:nvPicPr>
        <p:blipFill rotWithShape="1">
          <a:blip r:embed="rId3">
            <a:alphaModFix/>
          </a:blip>
          <a:srcRect b="0" l="13986" r="12792" t="0"/>
          <a:stretch/>
        </p:blipFill>
        <p:spPr>
          <a:xfrm>
            <a:off x="4699950" y="324150"/>
            <a:ext cx="4300050" cy="42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1519500" y="172875"/>
            <a:ext cx="61050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TRANSIZIONI DI FASE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274600" y="956400"/>
            <a:ext cx="87198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A partire dall’analisi di </a:t>
            </a:r>
            <a:r>
              <a:rPr lang="it" sz="18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Birolli et al. (2024)</a:t>
            </a:r>
            <a:r>
              <a:rPr lang="it" sz="1800">
                <a:solidFill>
                  <a:schemeClr val="dk1"/>
                </a:solidFill>
              </a:rPr>
              <a:t> abbiamo analizzato due istanti critici in cui, considerando due gaussiane centrate in m e -m e le ipotesi introdotte, la dinamica incontra delle transizioni di fase: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0625" y="2087975"/>
            <a:ext cx="3675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SPECIATION TIME</a:t>
            </a:r>
            <a:endParaRPr sz="3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264750" y="2087975"/>
            <a:ext cx="3177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COLLAPSE TIME</a:t>
            </a:r>
            <a:endParaRPr sz="3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130;p19"/>
          <p:cNvCxnSpPr/>
          <p:nvPr/>
        </p:nvCxnSpPr>
        <p:spPr>
          <a:xfrm>
            <a:off x="4563225" y="2344425"/>
            <a:ext cx="16200" cy="249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9"/>
          <p:cNvSpPr txBox="1"/>
          <p:nvPr/>
        </p:nvSpPr>
        <p:spPr>
          <a:xfrm>
            <a:off x="274600" y="2771875"/>
            <a:ext cx="40464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</a:rPr>
              <a:t>L’istante in cui la dinamica del dato si specializza verso uno specifica classe, simile a una biforcazione o una rottura di simmetria nel caso simmetrico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4947925" y="2771875"/>
            <a:ext cx="38184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030700" y="2758875"/>
            <a:ext cx="39027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</a:rPr>
              <a:t>L’istante in cui le traiettorie di una classe collassano su un dato di train con un meccanismo simile alla condensazione in una fase vetrosa.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54732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SPECIATION TIME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162350" y="1475650"/>
            <a:ext cx="4828500" cy="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In particolare nel caso introdotto coincide con l’istante in cui: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975" y="1151750"/>
            <a:ext cx="3974150" cy="30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5162950" y="4134725"/>
            <a:ext cx="4086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Analisi al variare della dimensione d. In particolare maggiore è d, più la transizione è netta, come previsto dalla teoria.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125" y="2243048"/>
            <a:ext cx="2312064" cy="8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0" y="3101650"/>
            <a:ext cx="54108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dove q coincide con la dimensione in cui i cluster (le gaussiane sono separabili). Ricordando dunque che il drift è il termine di derivata spaziale, otteniamo per questo caso (approssimando):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925" y="4317475"/>
            <a:ext cx="2564391" cy="7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445025"/>
            <a:ext cx="54732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SPECIATION TIME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5398500" y="207450"/>
            <a:ext cx="3806700" cy="4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 </a:t>
            </a:r>
            <a:r>
              <a:rPr lang="it" sz="18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Ambrogioni (2023)</a:t>
            </a:r>
            <a:r>
              <a:rPr lang="it" sz="1800">
                <a:solidFill>
                  <a:schemeClr val="dk1"/>
                </a:solidFill>
              </a:rPr>
              <a:t> viene individuata un’ ulteriore rottura di simmetria ma questa volta termodinamica e non dinamica. Dunque non andiamo più a vedere dove si annulla la derivata del termine di drift della formulazione VP:                           , ossia il drift associato alla nostra SDE, ma bensì della forma VE ottenendo qualcosa del tipo: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che può essere interpretata come la soluzione a campo medio dell’osservabile: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che nel caso di due delta di Dirac  ha soluzione:</a:t>
            </a:r>
            <a:r>
              <a:rPr lang="it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67125"/>
            <a:ext cx="4730450" cy="264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1"/>
          <p:cNvCxnSpPr/>
          <p:nvPr/>
        </p:nvCxnSpPr>
        <p:spPr>
          <a:xfrm>
            <a:off x="5310425" y="321250"/>
            <a:ext cx="37800" cy="450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" name="Google Shape;1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8200" y="2228475"/>
            <a:ext cx="1640635" cy="3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2275" y="3016350"/>
            <a:ext cx="955648" cy="3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72925" y="3864450"/>
            <a:ext cx="1182251" cy="3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9427" y="4425675"/>
            <a:ext cx="1948359" cy="5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445025"/>
            <a:ext cx="54732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COLLAPSE </a:t>
            </a: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025" y="1198862"/>
            <a:ext cx="3676425" cy="31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5373300" y="4320350"/>
            <a:ext cx="33828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plot del collapse time al variare di d con t in [0,T].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68725" y="1327325"/>
            <a:ext cx="4300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Invece il collapse time coincide con l’istante in cui, presa la funzione di partizione associata al dato x1 nel cluster centrato in m:                e le funzioni di partizioni associate ai dati nei due cluster: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dove il termine energetico coincide con: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                                        .                            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2769475" y="2230450"/>
            <a:ext cx="881888" cy="26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575" y="3175163"/>
            <a:ext cx="3676426" cy="68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577" y="4347050"/>
            <a:ext cx="2901550" cy="448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311688" y="1198850"/>
            <a:ext cx="4109100" cy="3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che essendo la somma di contributi gaussiani ma al quadrato richiede la </a:t>
            </a:r>
            <a:r>
              <a:rPr lang="it">
                <a:solidFill>
                  <a:schemeClr val="dk1"/>
                </a:solidFill>
              </a:rPr>
              <a:t>Teoria delle Grandi Deviazioni  le funzioni di energia libere associate, otteniamo in generale che: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Poichè siamo interessati all’istante in cui il sistema si condensa e non vale più l’approssimazione </a:t>
            </a:r>
            <a:r>
              <a:rPr lang="it">
                <a:solidFill>
                  <a:schemeClr val="dk1"/>
                </a:solidFill>
              </a:rPr>
              <a:t>Annealed</a:t>
            </a:r>
            <a:r>
              <a:rPr lang="it">
                <a:solidFill>
                  <a:schemeClr val="dk1"/>
                </a:solidFill>
              </a:rPr>
              <a:t>, studiamo: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da cui si ottiene: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9888" y="3497100"/>
            <a:ext cx="1932681" cy="4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9625" y="2384150"/>
            <a:ext cx="930375" cy="30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3300" y="4289800"/>
            <a:ext cx="2725900" cy="7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311700" y="306475"/>
            <a:ext cx="5892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LEARNING THEORY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311700" y="1905800"/>
            <a:ext cx="4920000" cy="26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In generale le transizioni precedenti come introdotto sono state trovate assumendo che la rete riproduca fedelmente la funzione di Score,  tuttavia è utile considerare l’errore di approssimazione e l’errore statistico </a:t>
            </a:r>
            <a:r>
              <a:rPr lang="it">
                <a:solidFill>
                  <a:schemeClr val="dk1"/>
                </a:solidFill>
              </a:rPr>
              <a:t>commesso</a:t>
            </a:r>
            <a:r>
              <a:rPr lang="it">
                <a:solidFill>
                  <a:schemeClr val="dk1"/>
                </a:solidFill>
              </a:rPr>
              <a:t> esprimibili come: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251" y="1764375"/>
            <a:ext cx="3484200" cy="220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400" y="3970925"/>
            <a:ext cx="5317300" cy="8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306475"/>
            <a:ext cx="5892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LEARNING THEORY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311700" y="1759825"/>
            <a:ext cx="8136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Tuttavia anche in questa formulazione assumiamo che, all’interno della classe, la funzione riesca effettivamente a raggiungere l’ottimo. In generale una decomposizione più appropriata per i Diffusion Models potrebbe essere: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10925"/>
            <a:ext cx="6175294" cy="20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/>
          <p:nvPr/>
        </p:nvSpPr>
        <p:spPr>
          <a:xfrm>
            <a:off x="5512950" y="1266175"/>
            <a:ext cx="2643000" cy="1986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Errore introdotto nell’uso dell’ottimizzazione su una rete a dimensione finita e non nel suo limite teorico (NTK)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5680000" y="3252175"/>
            <a:ext cx="1726200" cy="526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Statistical error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4896600" y="1450000"/>
            <a:ext cx="3875700" cy="2544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Errore introdotto dalla durata dell’ottimizzatore. In particolare è noto che esso è soggetto a uno Spectral Bias e dunque non apprende allo stesso modo tutte le componenti, in particolare: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Dunque quelle associate agli autovalori minori vengono imparate solo in tempi più lunghi.</a:t>
            </a:r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259" r="259" t="0"/>
          <a:stretch/>
        </p:blipFill>
        <p:spPr>
          <a:xfrm>
            <a:off x="5720975" y="2803125"/>
            <a:ext cx="2226945" cy="4065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5221600" y="3322825"/>
            <a:ext cx="2643000" cy="1256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Errore di approssimazione dovuto alla classe di funzioni approssimabili dalla rete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311700" y="306475"/>
            <a:ext cx="5892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LEARNING THEORY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00" y="3367550"/>
            <a:ext cx="7740526" cy="11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/>
        </p:nvSpPr>
        <p:spPr>
          <a:xfrm>
            <a:off x="313976" y="2056475"/>
            <a:ext cx="86085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 particolare in </a:t>
            </a:r>
            <a:r>
              <a:rPr lang="it" sz="1800" u="sng">
                <a:solidFill>
                  <a:schemeClr val="hlink"/>
                </a:solidFill>
                <a:hlinkClick r:id="rId4"/>
              </a:rPr>
              <a:t>Han et al. (2026)</a:t>
            </a:r>
            <a:r>
              <a:rPr lang="it" sz="1800">
                <a:solidFill>
                  <a:schemeClr val="dk1"/>
                </a:solidFill>
              </a:rPr>
              <a:t>, considerando partendo dalla decomposizione precedente e considerando un regime Over-Parametrizzato addestrato usando l’ottimizzatore GD quel che si ottiene è che il Rischio di Generalizzazione è: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311700" y="445025"/>
            <a:ext cx="5672400" cy="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DESCENT</a:t>
            </a:r>
            <a:endParaRPr sz="45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100" y="4009925"/>
            <a:ext cx="91440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1"/>
                </a:solidFill>
              </a:rPr>
              <a:t>Il motivo per cui vogliono considerare il secondo regime, quello O-P,risiede nel fatto che la versione CMC che noi stimiamo del GR, ossia la Test Loss, mostra una seconda discesa più marcata della prima in questa fascia.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82700"/>
            <a:ext cx="7577275" cy="26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/>
        </p:nvSpPr>
        <p:spPr>
          <a:xfrm>
            <a:off x="-50000" y="3881075"/>
            <a:ext cx="92442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 particolare, partendo dal risultato ottenuto prima, se consideriamo la dimensione efficace del problema, otteniamo che effettivamente maggiore è questa e minore è la decrescita della TL </a:t>
            </a:r>
            <a:r>
              <a:rPr lang="it" sz="1800">
                <a:solidFill>
                  <a:schemeClr val="dk1"/>
                </a:solidFill>
              </a:rPr>
              <a:t>osservabile</a:t>
            </a:r>
            <a:r>
              <a:rPr lang="it" sz="1800">
                <a:solidFill>
                  <a:schemeClr val="dk1"/>
                </a:solidFill>
              </a:rPr>
              <a:t>. Nell’immagine abbiamo confrontato il caso Rademacher, a dimensione elevata, e il MNIST.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1309500" y="1439400"/>
            <a:ext cx="65250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GRAZIE PER L’ATTENZIONE</a:t>
            </a:r>
            <a:endParaRPr sz="7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